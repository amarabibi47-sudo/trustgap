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3" r:id="rId4"/>
    <p:sldId id="258" r:id="rId5"/>
    <p:sldId id="274" r:id="rId6"/>
    <p:sldId id="260" r:id="rId7"/>
    <p:sldId id="259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31"/>
    <p:restoredTop sz="94670"/>
  </p:normalViewPr>
  <p:slideViewPr>
    <p:cSldViewPr snapToGrid="0" snapToObjects="1">
      <p:cViewPr>
        <p:scale>
          <a:sx n="75" d="100"/>
          <a:sy n="75" d="100"/>
        </p:scale>
        <p:origin x="116" y="-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A8FEB-287E-7449-85E7-A927F7CB73B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D4E81-1DD6-1240-8180-8C16B23C8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41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Simple analogy: SPF is the approved-sender list, DKIM is the tamper-proof seal, DMARC is the rule for what happens when the checks fail. TrustGap works on the next question: is this the contact we normally deal with?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Gmail delivers mail as normal. Gmail sends TrustGap a small notice that new mail arrived; TrustGap then fetches the message with a read-only permission and asks: do we know this address, does the domain look like one we know, how old is it, is it asking for money, does it sound like this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measure: attacks caught, good emails wrongly flagged, speed per email, and alerts per day an admin must read. Stage 3 starts with Gmail because Namal uses Google; Outlook can be added later with Microsoft's own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61EA4-A2BE-D441-92CE-753026655F19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4637-80F4-F549-8B0C-6224E9F49920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Science, </a:t>
            </a:r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618D-7DC8-584C-8174-F96D4691CC93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0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708-57B0-0342-989F-5540BCA7C095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1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9AC1-B86D-9743-8CA1-3710D8ED1E31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4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9076D-C1BA-D647-BCF6-96C44F48F9F4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2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3C651-28EE-3440-B784-9815FF099FA1}" type="datetime1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5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3B37-AE97-4846-97A2-3C1B43014991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2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23B9E-9D30-3A47-A187-1C7B9D5CF726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F74D3-80E5-C64D-8A26-ED401BD2F839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0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E373A-E430-3742-8384-5673EEF1CA2B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4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B0286-3DD1-3748-AB3E-EB895D98739F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TrustGap</a:t>
            </a:r>
            <a:r>
              <a:rPr lang="en-US" sz="2400" b="1" dirty="0"/>
              <a:t>: </a:t>
            </a:r>
            <a:r>
              <a:rPr lang="en-US" sz="2200" b="1" dirty="0"/>
              <a:t>Detecting Authentication Passing Business Email Compromise via Contact Baseline and Lookalike Domain Analysis</a:t>
            </a:r>
            <a:br>
              <a:rPr lang="en-PK" dirty="0"/>
            </a:b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22565"/>
          </a:xfrm>
        </p:spPr>
        <p:txBody>
          <a:bodyPr>
            <a:normAutofit fontScale="85000" lnSpcReduction="20000"/>
          </a:bodyPr>
          <a:lstStyle/>
          <a:p>
            <a:pPr algn="ctr">
              <a:spcAft>
                <a:spcPts val="200"/>
              </a:spcAft>
            </a:pPr>
            <a:r>
              <a:rPr sz="1800" b="0" dirty="0">
                <a:solidFill>
                  <a:srgbClr val="222222"/>
                </a:solidFill>
              </a:rPr>
              <a:t>By</a:t>
            </a:r>
          </a:p>
          <a:p>
            <a:pPr algn="ctr">
              <a:spcAft>
                <a:spcPts val="200"/>
              </a:spcAft>
            </a:pPr>
            <a:r>
              <a:rPr sz="1800" b="0" dirty="0">
                <a:solidFill>
                  <a:srgbClr val="222222"/>
                </a:solidFill>
              </a:rPr>
              <a:t>Amara Bibi – NUM-BSCS-2023-14</a:t>
            </a:r>
          </a:p>
          <a:p>
            <a:pPr algn="ctr">
              <a:spcAft>
                <a:spcPts val="200"/>
              </a:spcAft>
            </a:pPr>
            <a:r>
              <a:rPr sz="1800" b="0" dirty="0">
                <a:solidFill>
                  <a:srgbClr val="222222"/>
                </a:solidFill>
              </a:rPr>
              <a:t>Sumaira Majeed – NUM-BSCS-2023-33</a:t>
            </a:r>
          </a:p>
          <a:p>
            <a:pPr algn="ctr">
              <a:spcAft>
                <a:spcPts val="200"/>
              </a:spcAft>
            </a:pPr>
            <a:endParaRPr sz="1800" b="0" dirty="0">
              <a:solidFill>
                <a:srgbClr val="222222"/>
              </a:solidFill>
            </a:endParaRPr>
          </a:p>
          <a:p>
            <a:pPr algn="ctr">
              <a:spcAft>
                <a:spcPts val="200"/>
              </a:spcAft>
            </a:pPr>
            <a:r>
              <a:rPr sz="1800" b="0" dirty="0">
                <a:solidFill>
                  <a:srgbClr val="222222"/>
                </a:solidFill>
              </a:rPr>
              <a:t>Supervisor: </a:t>
            </a:r>
            <a:r>
              <a:rPr lang="en-US" sz="1800" dirty="0">
                <a:solidFill>
                  <a:srgbClr val="222222"/>
                </a:solidFill>
              </a:rPr>
              <a:t>Sir Ramzan Shahid</a:t>
            </a:r>
            <a:endParaRPr sz="1800" b="0" dirty="0">
              <a:solidFill>
                <a:srgbClr val="222222"/>
              </a:solidFill>
            </a:endParaRPr>
          </a:p>
          <a:p>
            <a:pPr algn="ctr">
              <a:spcAft>
                <a:spcPts val="200"/>
              </a:spcAft>
            </a:pPr>
            <a:r>
              <a:rPr sz="1800" b="0" dirty="0">
                <a:solidFill>
                  <a:srgbClr val="222222"/>
                </a:solidFill>
              </a:rPr>
              <a:t>Industrial Supervisor: Awais Saeed</a:t>
            </a:r>
          </a:p>
          <a:p>
            <a:pPr algn="ctr">
              <a:spcAft>
                <a:spcPts val="200"/>
              </a:spcAft>
            </a:pPr>
            <a:r>
              <a:rPr sz="1800" b="0" dirty="0">
                <a:solidFill>
                  <a:srgbClr val="222222"/>
                </a:solidFill>
              </a:rPr>
              <a:t>Industrial Partner: </a:t>
            </a:r>
            <a:r>
              <a:rPr sz="1800" b="0" dirty="0" err="1">
                <a:solidFill>
                  <a:srgbClr val="222222"/>
                </a:solidFill>
              </a:rPr>
              <a:t>Amrood</a:t>
            </a:r>
            <a:r>
              <a:rPr sz="1800" b="0" dirty="0">
                <a:solidFill>
                  <a:srgbClr val="222222"/>
                </a:solidFill>
              </a:rPr>
              <a:t> Labs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6FBE4-AA36-004B-8D37-8B5824306D86}" type="datetime1">
              <a:rPr lang="en-US" smtClean="0"/>
              <a:t>10/7/2026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67150" y="522328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Final Year Project </a:t>
            </a:r>
            <a:r>
              <a:rPr lang="mr-IN" b="1" dirty="0"/>
              <a:t>–</a:t>
            </a:r>
            <a:r>
              <a:rPr lang="en-US" b="1"/>
              <a:t> Proposal </a:t>
            </a:r>
            <a:r>
              <a:rPr lang="en-US" b="1" dirty="0"/>
              <a:t>Presentation</a:t>
            </a:r>
          </a:p>
        </p:txBody>
      </p:sp>
      <p:pic>
        <p:nvPicPr>
          <p:cNvPr id="5" name="Picture 4" descr="Namal University">
            <a:extLst>
              <a:ext uri="{FF2B5EF4-FFF2-40B4-BE49-F238E27FC236}">
                <a16:creationId xmlns:a16="http://schemas.microsoft.com/office/drawing/2014/main" id="{008743B0-C69A-85A8-A996-BADAB5A462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4"/>
            <a:ext cx="1781175" cy="1781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755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PK" sz="2400" dirty="0"/>
              <a:t>Key Email Security Terminologies</a:t>
            </a:r>
            <a:endParaRPr lang="en-US" sz="2400" dirty="0"/>
          </a:p>
          <a:p>
            <a:pPr>
              <a:spcAft>
                <a:spcPts val="800"/>
              </a:spcAft>
            </a:pPr>
            <a:r>
              <a:rPr lang="en-PK" sz="2400" dirty="0"/>
              <a:t>Revised Problem Statement</a:t>
            </a:r>
            <a:endParaRPr lang="en-US" sz="2400" dirty="0"/>
          </a:p>
          <a:p>
            <a:pPr>
              <a:spcAft>
                <a:spcPts val="800"/>
              </a:spcAft>
            </a:pPr>
            <a:r>
              <a:rPr sz="2200" b="0" dirty="0">
                <a:solidFill>
                  <a:srgbClr val="222222"/>
                </a:solidFill>
              </a:rPr>
              <a:t>Q1: Where the detection layer sits</a:t>
            </a:r>
          </a:p>
          <a:p>
            <a:pPr>
              <a:spcAft>
                <a:spcPts val="800"/>
              </a:spcAft>
            </a:pPr>
            <a:r>
              <a:rPr sz="2200" b="0" dirty="0">
                <a:solidFill>
                  <a:srgbClr val="222222"/>
                </a:solidFill>
              </a:rPr>
              <a:t>Q2: How we deploy and test</a:t>
            </a:r>
          </a:p>
          <a:p>
            <a:pPr>
              <a:spcAft>
                <a:spcPts val="800"/>
              </a:spcAft>
            </a:pPr>
            <a:r>
              <a:rPr sz="2200" b="0" dirty="0">
                <a:solidFill>
                  <a:srgbClr val="222222"/>
                </a:solidFill>
              </a:rPr>
              <a:t>Q3: Read-only access and trust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3777-3965-2841-879A-A4D220913375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ECDCC5B-EF96-9D82-00B3-1408C792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8" name="Picture 7" descr="Namal University">
            <a:extLst>
              <a:ext uri="{FF2B5EF4-FFF2-40B4-BE49-F238E27FC236}">
                <a16:creationId xmlns:a16="http://schemas.microsoft.com/office/drawing/2014/main" id="{708CA6C1-E89D-F205-3454-CB431A8211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4"/>
            <a:ext cx="1781175" cy="1781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248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SPF, DKIM and DMARC Explained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3D2E0-F1CC-9549-ACFC-356B7E30C3AC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B955B43-531E-A6AC-D1FB-55778031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9" name="Picture 8" descr="Namal University">
            <a:extLst>
              <a:ext uri="{FF2B5EF4-FFF2-40B4-BE49-F238E27FC236}">
                <a16:creationId xmlns:a16="http://schemas.microsoft.com/office/drawing/2014/main" id="{D3FD19A3-B27D-3429-D590-D1B6839E77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5"/>
            <a:ext cx="1781175" cy="167893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ounded Rectangle 9"/>
          <p:cNvSpPr/>
          <p:nvPr/>
        </p:nvSpPr>
        <p:spPr>
          <a:xfrm>
            <a:off x="841248" y="1645920"/>
            <a:ext cx="3337560" cy="3017520"/>
          </a:xfrm>
          <a:prstGeom prst="roundRect">
            <a:avLst>
              <a:gd name="adj" fmla="val 5000"/>
            </a:avLst>
          </a:prstGeom>
          <a:solidFill>
            <a:srgbClr val="E8F1EB"/>
          </a:solidFill>
          <a:ln w="19050">
            <a:solidFill>
              <a:srgbClr val="1B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B5E3A"/>
                </a:solidFill>
              </a:rPr>
              <a:t>SPF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Sender Policy Framework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Asks: is this server allowed to send email for this domain?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How: the domain publishes a list of approved sending servers and the receiver checks it.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Like: a company’s list of approved delivery trucks.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645920"/>
            <a:ext cx="3337560" cy="3017520"/>
          </a:xfrm>
          <a:prstGeom prst="roundRect">
            <a:avLst>
              <a:gd name="adj" fmla="val 5000"/>
            </a:avLst>
          </a:prstGeom>
          <a:solidFill>
            <a:srgbClr val="E8F1EB"/>
          </a:solidFill>
          <a:ln w="19050">
            <a:solidFill>
              <a:srgbClr val="1B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B5E3A"/>
                </a:solidFill>
              </a:rPr>
              <a:t>DKIM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DomainKeys Identified Mail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Asks: is the message untouched and signed by this domain?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How: the sender adds a digital signature and the receiver checks it with the domain’s public key.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Like: a tamper-proof seal on an envelope.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45920"/>
            <a:ext cx="3291840" cy="3017520"/>
          </a:xfrm>
          <a:prstGeom prst="roundRect">
            <a:avLst>
              <a:gd name="adj" fmla="val 5000"/>
            </a:avLst>
          </a:prstGeom>
          <a:solidFill>
            <a:srgbClr val="E8F1EB"/>
          </a:solidFill>
          <a:ln w="19050">
            <a:solidFill>
              <a:srgbClr val="1B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B5E3A"/>
                </a:solidFill>
              </a:rPr>
              <a:t>DMARC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Domain-based Message Authentication, Reporting and Conformance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Asks: do SPF or DKIM pass for the domain shown in the From address, and what to do if not?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How: the domain publishes a policy: none, quarantine or reject.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846320"/>
            <a:ext cx="10515600" cy="868680"/>
          </a:xfrm>
          <a:prstGeom prst="roundRect">
            <a:avLst/>
          </a:prstGeom>
          <a:solidFill>
            <a:srgbClr val="FFF4D6"/>
          </a:solidFill>
          <a:ln w="1905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600" b="1">
                <a:solidFill>
                  <a:srgbClr val="222222"/>
                </a:solidFill>
              </a:rPr>
              <a:t>The gap: all three prove the sending server and domain are genuine, not that the domain is the one you trust. A correctly configured lookalike domain passes all three.</a:t>
            </a:r>
          </a:p>
        </p:txBody>
      </p:sp>
    </p:spTree>
    <p:extLst>
      <p:ext uri="{BB962C8B-B14F-4D97-AF65-F5344CB8AC3E}">
        <p14:creationId xmlns:p14="http://schemas.microsoft.com/office/powerpoint/2010/main" val="28864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3600" b="1" dirty="0"/>
              <a:t>Revised Problem Statement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645920"/>
            <a:ext cx="10515600" cy="3108960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PK" sz="2000" dirty="0">
                <a:latin typeface="+mj-lt"/>
              </a:rPr>
              <a:t> </a:t>
            </a:r>
            <a:r>
              <a:rPr lang="en-PK" dirty="0">
                <a:latin typeface="+mj-lt"/>
              </a:rPr>
              <a:t>When an email arrives, Gmail checks that the sending computer is allowed to send for that company's domain. These checks are called SPF, DKIM and DMARC. A fraudster can pass them by buying a domain that looks almost the same as a real company (</a:t>
            </a:r>
            <a:r>
              <a:rPr lang="en-PK" b="1" dirty="0">
                <a:latin typeface="+mj-lt"/>
              </a:rPr>
              <a:t>for example, supp1ier-pk.com instead of supplier-pk.com</a:t>
            </a:r>
            <a:r>
              <a:rPr lang="en-PK" dirty="0">
                <a:latin typeface="+mj-lt"/>
              </a:rPr>
              <a:t>), setting it up correctly, and asking for a payment. Every check says PASS, but the email is fake.</a:t>
            </a:r>
          </a:p>
          <a:p>
            <a:pPr marL="0" indent="0">
              <a:spcAft>
                <a:spcPts val="1000"/>
              </a:spcAft>
              <a:buNone/>
            </a:pPr>
            <a:endParaRPr sz="3200" b="0" dirty="0">
              <a:solidFill>
                <a:srgbClr val="222222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EE4EC-B1E7-894E-A9D4-99B91EF11783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B05C6D08-073E-F63C-D28C-D7DF5EAD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9" name="Picture 8" descr="Namal University">
            <a:extLst>
              <a:ext uri="{FF2B5EF4-FFF2-40B4-BE49-F238E27FC236}">
                <a16:creationId xmlns:a16="http://schemas.microsoft.com/office/drawing/2014/main" id="{8EA7B023-8002-BF34-C0FB-530505D84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4"/>
            <a:ext cx="1781175" cy="1781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398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DD75-F034-40F2-C425-82E192652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8702-7848-8DB6-5301-A24974D9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F8925-DE29-A77A-EA53-2B9885F88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10515600" cy="3108960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PK" sz="2000" dirty="0">
                <a:latin typeface="+mj-lt"/>
              </a:rPr>
              <a:t> </a:t>
            </a:r>
            <a:r>
              <a:rPr lang="en-PK" sz="3200" dirty="0"/>
              <a:t>What </a:t>
            </a:r>
            <a:r>
              <a:rPr lang="en-PK" sz="3200" dirty="0" err="1"/>
              <a:t>TrustGap</a:t>
            </a:r>
            <a:r>
              <a:rPr lang="en-PK" sz="3200" dirty="0"/>
              <a:t> does. </a:t>
            </a:r>
            <a:r>
              <a:rPr lang="en-PK" sz="3200" dirty="0">
                <a:latin typeface="+mj-lt"/>
              </a:rPr>
              <a:t>It asks the next question: is this really the person and company we normally talk to? It compares each email with the history of that contact, then shows a risk level (Low, Medium, High) and the reason in plain words.</a:t>
            </a:r>
            <a:endParaRPr sz="3200" b="0" dirty="0">
              <a:solidFill>
                <a:srgbClr val="222222"/>
              </a:solidFill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1086D-D438-F273-26D0-7A5A63DC6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EE4EC-B1E7-894E-A9D4-99B91EF11783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4C5F2-8E42-ACA1-BF9B-453BF85EA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3D4F838-293A-1C37-95D9-6E4AD8CD1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9" name="Picture 8" descr="Namal University">
            <a:extLst>
              <a:ext uri="{FF2B5EF4-FFF2-40B4-BE49-F238E27FC236}">
                <a16:creationId xmlns:a16="http://schemas.microsoft.com/office/drawing/2014/main" id="{317D784E-B6DE-F2C0-2F5D-5361C87819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4"/>
            <a:ext cx="1781175" cy="1781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3454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Q1: Where the Detection Layer 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4709160"/>
            <a:ext cx="10515600" cy="109728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222222"/>
                </a:solidFill>
              </a:rPr>
              <a:t>Authentication result: </a:t>
            </a:r>
            <a:r>
              <a:rPr sz="1600" b="0" dirty="0">
                <a:solidFill>
                  <a:srgbClr val="222222"/>
                </a:solidFill>
              </a:rPr>
              <a:t>read from the Authentication-Results line Gmail writes; we use it as one clue and do not repeat the check.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222222"/>
                </a:solidFill>
              </a:rPr>
              <a:t>Beside, not in the middle: </a:t>
            </a:r>
            <a:r>
              <a:rPr sz="1600" b="0" dirty="0">
                <a:solidFill>
                  <a:srgbClr val="222222"/>
                </a:solidFill>
              </a:rPr>
              <a:t>changing mail routing can delay or lose mail and needs much more trust.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4A53-0144-254B-A974-9FAC8DA1B0E3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88A84164-CAA3-2B7C-17C5-124EF1E9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9" name="Picture 8" descr="Namal University">
            <a:extLst>
              <a:ext uri="{FF2B5EF4-FFF2-40B4-BE49-F238E27FC236}">
                <a16:creationId xmlns:a16="http://schemas.microsoft.com/office/drawing/2014/main" id="{09FF79A2-1F17-195D-2CCC-C35E3D03BD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4"/>
            <a:ext cx="1781175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841248" y="160020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555555"/>
                </a:solidFill>
              </a:rPr>
              <a:t>Normal mail path (nothing changes)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1920240"/>
            <a:ext cx="2194560" cy="64008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0">
                <a:solidFill>
                  <a:srgbClr val="222222"/>
                </a:solidFill>
              </a:rPr>
              <a:t>Sender sends an email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86684" y="2125980"/>
            <a:ext cx="274320" cy="228600"/>
          </a:xfrm>
          <a:prstGeom prst="rightArrow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11879" y="1920240"/>
            <a:ext cx="2194560" cy="64008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0">
                <a:solidFill>
                  <a:srgbClr val="222222"/>
                </a:solidFill>
              </a:rPr>
              <a:t>Internet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57316" y="2125980"/>
            <a:ext cx="274320" cy="228600"/>
          </a:xfrm>
          <a:prstGeom prst="rightArrow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82512" y="1920240"/>
            <a:ext cx="2194560" cy="640080"/>
          </a:xfrm>
          <a:prstGeom prst="roundRect">
            <a:avLst/>
          </a:prstGeom>
          <a:solidFill>
            <a:srgbClr val="DDE6F3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0">
                <a:solidFill>
                  <a:srgbClr val="222222"/>
                </a:solidFill>
              </a:rPr>
              <a:t>Gmail checks SPF, DKIM, DMARC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27947" y="2125980"/>
            <a:ext cx="274320" cy="228600"/>
          </a:xfrm>
          <a:prstGeom prst="rightArrow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53144" y="1920240"/>
            <a:ext cx="2194560" cy="64008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0">
                <a:solidFill>
                  <a:srgbClr val="222222"/>
                </a:solidFill>
              </a:rPr>
              <a:t>Inbox: person reads as usual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223760" y="2606040"/>
            <a:ext cx="228600" cy="411480"/>
          </a:xfrm>
          <a:prstGeom prst="downArrow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2670048"/>
            <a:ext cx="2743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1B5E3A"/>
                </a:solidFill>
              </a:rPr>
              <a:t>read-only copy of the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017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1B5E3A"/>
                </a:solidFill>
              </a:rPr>
              <a:t>TrustGap (our system, beside the mailbox)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337560"/>
            <a:ext cx="1737360" cy="914400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0">
                <a:solidFill>
                  <a:srgbClr val="FFFFFF"/>
                </a:solidFill>
              </a:rPr>
              <a:t>1 Read the email and the login-check result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70048" y="3680460"/>
            <a:ext cx="274320" cy="228600"/>
          </a:xfrm>
          <a:prstGeom prst="rightArrow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035808" y="3337560"/>
            <a:ext cx="1737360" cy="914400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2 Compare with what we know about this contact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64607" y="3680460"/>
            <a:ext cx="274320" cy="228600"/>
          </a:xfrm>
          <a:prstGeom prst="rightArrow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230368" y="3337560"/>
            <a:ext cx="1737360" cy="914400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0">
                <a:solidFill>
                  <a:srgbClr val="FFFFFF"/>
                </a:solidFill>
              </a:rPr>
              <a:t>3 Score the risk: Low / Medium / High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059167" y="3680460"/>
            <a:ext cx="274320" cy="228600"/>
          </a:xfrm>
          <a:prstGeom prst="rightArrow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24927" y="3337560"/>
            <a:ext cx="1737360" cy="914400"/>
          </a:xfrm>
          <a:prstGeom prst="roundRect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0">
                <a:solidFill>
                  <a:srgbClr val="FFFFFF"/>
                </a:solidFill>
              </a:rPr>
              <a:t>4 Explain why, in plain words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53728" y="3680460"/>
            <a:ext cx="274320" cy="228600"/>
          </a:xfrm>
          <a:prstGeom prst="rightArrow">
            <a:avLst/>
          </a:prstGeom>
          <a:solidFill>
            <a:srgbClr val="1B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19488" y="3337560"/>
            <a:ext cx="1737360" cy="914400"/>
          </a:xfrm>
          <a:prstGeom prst="roundRect">
            <a:avLst/>
          </a:prstGeom>
          <a:solidFill>
            <a:srgbClr val="E3B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Dashboard for IT admin or finance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343400"/>
            <a:ext cx="10515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C62828"/>
                </a:solidFill>
              </a:rPr>
              <a:t>TrustGap never changes, deletes or sends email. It only reads a copy and shows alerts on its own dashboard.</a:t>
            </a:r>
          </a:p>
        </p:txBody>
      </p:sp>
    </p:spTree>
    <p:extLst>
      <p:ext uri="{BB962C8B-B14F-4D97-AF65-F5344CB8AC3E}">
        <p14:creationId xmlns:p14="http://schemas.microsoft.com/office/powerpoint/2010/main" val="56358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Q1 Example: One Email, Six Checks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EAC7-C56D-654E-AF87-90A8FCDDA207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758A22F-0A47-8A7F-BD1B-4A2F051F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9" name="Picture 8" descr="Namal University">
            <a:extLst>
              <a:ext uri="{FF2B5EF4-FFF2-40B4-BE49-F238E27FC236}">
                <a16:creationId xmlns:a16="http://schemas.microsoft.com/office/drawing/2014/main" id="{B88C58E5-0690-ABA1-FA21-212DF7F76F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4"/>
            <a:ext cx="1781175" cy="1781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" y="1645920"/>
          <a:ext cx="105156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73152" marR="73152" marT="36576" marB="36576" anchor="ctr"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TrustGap finds (accounts@supp1ier-pk.com)</a:t>
                      </a:r>
                    </a:p>
                  </a:txBody>
                  <a:tcPr marL="73152" marR="73152" marT="36576" marB="36576" anchor="ctr"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73152" marR="73152" marT="36576" marB="36576" anchor="ctr">
                    <a:solidFill>
                      <a:srgbClr val="1B5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1 Login checks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SPF, DKIM, DMARC only say the server is allowed to send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5E3A"/>
                          </a:solidFill>
                        </a:rPr>
                        <a:t>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2 Known address?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Our supplier always used supplier-pk.com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</a:rPr>
                        <a:t>NEW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3 Lookalike?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One character different (the letter l became 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</a:rPr>
                        <a:t>LOOKALIKE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4 Domain age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Registered very recently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</a:rPr>
                        <a:t>6 DAYS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5 Request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Payment words found: “our bank account has changed”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</a:rPr>
                        <a:t>BANK CHANGE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6 Writing style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Checked only if enough past emails exist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62828"/>
                          </a:solidFill>
                        </a:rPr>
                        <a:t>DIFFERENT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1248" y="5029200"/>
            <a:ext cx="10515600" cy="731520"/>
          </a:xfrm>
          <a:prstGeom prst="roundRect">
            <a:avLst/>
          </a:prstGeom>
          <a:solidFill>
            <a:srgbClr val="FDE8E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600" b="1">
                <a:solidFill>
                  <a:srgbClr val="222222"/>
                </a:solidFill>
              </a:rPr>
              <a:t>RESULT: HIGH RISK. The domain is a lookalike, only 6 days old, new to us, and asks to change bank details. Do not pay; call the supplier on a number you already know.</a:t>
            </a:r>
          </a:p>
        </p:txBody>
      </p:sp>
    </p:spTree>
    <p:extLst>
      <p:ext uri="{BB962C8B-B14F-4D97-AF65-F5344CB8AC3E}">
        <p14:creationId xmlns:p14="http://schemas.microsoft.com/office/powerpoint/2010/main" val="747993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Q2: Deploying and Testing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3D2E0-F1CC-9549-ACFC-356B7E30C3AC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B955B43-531E-A6AC-D1FB-55778031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9" name="Picture 8" descr="Namal University">
            <a:extLst>
              <a:ext uri="{FF2B5EF4-FFF2-40B4-BE49-F238E27FC236}">
                <a16:creationId xmlns:a16="http://schemas.microsoft.com/office/drawing/2014/main" id="{D3FD19A3-B27D-3429-D590-D1B6839E77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4"/>
            <a:ext cx="1781175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ounded Rectangle 9"/>
          <p:cNvSpPr/>
          <p:nvPr/>
        </p:nvSpPr>
        <p:spPr>
          <a:xfrm>
            <a:off x="841248" y="1645920"/>
            <a:ext cx="3337560" cy="3246120"/>
          </a:xfrm>
          <a:prstGeom prst="roundRect">
            <a:avLst>
              <a:gd name="adj" fmla="val 5000"/>
            </a:avLst>
          </a:prstGeom>
          <a:solidFill>
            <a:srgbClr val="E8F1EB"/>
          </a:solidFill>
          <a:ln w="19050">
            <a:solidFill>
              <a:srgbClr val="1B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B5E3A"/>
                </a:solidFill>
              </a:rPr>
              <a:t>Stage 1: Offline lab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Runs on: our own laptop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Data: public emails and our own synthetic attacks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Real mail access: none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We prove: the method works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Compared with: Sublime and a domain-only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645920"/>
            <a:ext cx="3337560" cy="3246120"/>
          </a:xfrm>
          <a:prstGeom prst="roundRect">
            <a:avLst>
              <a:gd name="adj" fmla="val 5000"/>
            </a:avLst>
          </a:prstGeom>
          <a:solidFill>
            <a:srgbClr val="FFF4D6"/>
          </a:solidFill>
          <a:ln w="1905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8A5A10"/>
                </a:solidFill>
              </a:rPr>
              <a:t>Stage 2: Replay pilot at Namal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Runs on: a Namal computer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Data: volunteers export their own mail and give us the file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We prove: alerts make sense on real mail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Owners review the alerts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Risk to people: very 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45920"/>
            <a:ext cx="3291840" cy="3246120"/>
          </a:xfrm>
          <a:prstGeom prst="roundRect">
            <a:avLst>
              <a:gd name="adj" fmla="val 5000"/>
            </a:avLst>
          </a:prstGeom>
          <a:solidFill>
            <a:srgbClr val="E8F1EB"/>
          </a:solidFill>
          <a:ln w="19050">
            <a:solidFill>
              <a:srgbClr val="1B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B5E3A"/>
                </a:solidFill>
              </a:rPr>
              <a:t>Stage 3: Live shadow pilot (if approved)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Runs on: the Namal system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Access: read-only Gmail, approved by Namal’s admin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Alerts: our dashboard only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We prove: works live, speed, alert volume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Mailboxes are never touched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29200"/>
            <a:ext cx="10515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C62828"/>
                </a:solidFill>
              </a:rPr>
              <a:t>Before Stages 2 and 3: approval from Namal IT and the university. Volunteers approve access themselves.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4924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222222"/>
                </a:solidFill>
              </a:rPr>
              <a:t>Safe attack testing: a made-up supplier and lookalike test domain; simulated attacks sent only between volunteer test accounts. We never pretend to be a real company.</a:t>
            </a:r>
          </a:p>
        </p:txBody>
      </p:sp>
    </p:spTree>
    <p:extLst>
      <p:ext uri="{BB962C8B-B14F-4D97-AF65-F5344CB8AC3E}">
        <p14:creationId xmlns:p14="http://schemas.microsoft.com/office/powerpoint/2010/main" val="28864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Q2: Where It Runs and What It Costs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E2CB-5621-EF4A-BBC4-B5DA3670144C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EC97B6A-EF8F-88F6-1941-0A9E5A3F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9" name="Picture 8" descr="Namal University">
            <a:extLst>
              <a:ext uri="{FF2B5EF4-FFF2-40B4-BE49-F238E27FC236}">
                <a16:creationId xmlns:a16="http://schemas.microsoft.com/office/drawing/2014/main" id="{3BCF7868-A063-A360-03E4-A797E9D837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4"/>
            <a:ext cx="1781175" cy="1781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" y="1645920"/>
          <a:ext cx="1051560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Place</a:t>
                      </a:r>
                    </a:p>
                  </a:txBody>
                  <a:tcPr marL="73152" marR="73152" marT="36576" marB="36576" anchor="ctr"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we use</a:t>
                      </a:r>
                    </a:p>
                  </a:txBody>
                  <a:tcPr marL="73152" marR="73152" marT="36576" marB="36576" anchor="ctr"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Estimated cost</a:t>
                      </a:r>
                    </a:p>
                  </a:txBody>
                  <a:tcPr marL="73152" marR="73152" marT="36576" marB="36576" anchor="ctr"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73152" marR="73152" marT="36576" marB="36576" anchor="ctr">
                    <a:solidFill>
                      <a:srgbClr val="1B5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Our laptop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Stage 1 offline lab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about $0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No real mail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Namal system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Stages 2 and 3 pilots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about $0 to us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Namal’s admin approves access; mail stays on the Namal side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AWS EC2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t3.medium: 2 vCPU, 4 GB; Mumbai or UAE region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about $37–41 a month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No AWS region in Pakistan found; confirm with the AWS Pricing Calculator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</a:rPr>
                        <a:t>Pakistani VPS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2 vCPU, 4 GB, 50–80 GB SSD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about PKR 3,300–10,000 (≈ $14.70) a month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Confirm the server is in Pakistan; check backups and support</a:t>
                      </a:r>
                    </a:p>
                  </a:txBody>
                  <a:tcPr marL="73152" marR="73152" marT="36576" marB="36576" anchor="ctr">
                    <a:solidFill>
                      <a:srgbClr val="E8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1248" y="5120640"/>
            <a:ext cx="10515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222222"/>
                </a:solidFill>
              </a:rPr>
              <a:t>Pilot server: 2 CPU cores, 4 GB memory, 50–80 GB disk, no graphics card; we measure and resize. The same Docker package runs on the laptop, Namal system, AWS or a Pakistani VPS, so nothing is rebuilt. Prices are estimates from public sites.</a:t>
            </a:r>
          </a:p>
        </p:txBody>
      </p:sp>
    </p:spTree>
    <p:extLst>
      <p:ext uri="{BB962C8B-B14F-4D97-AF65-F5344CB8AC3E}">
        <p14:creationId xmlns:p14="http://schemas.microsoft.com/office/powerpoint/2010/main" val="97865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Q3: Our Read-Only Promise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C496-A90C-CA45-9662-9B7198DD1AAF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C99946C1-833D-FF52-52DD-359D207E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9" name="Picture 8" descr="Namal University">
            <a:extLst>
              <a:ext uri="{FF2B5EF4-FFF2-40B4-BE49-F238E27FC236}">
                <a16:creationId xmlns:a16="http://schemas.microsoft.com/office/drawing/2014/main" id="{02749744-EEE1-3037-D926-D9BDD31EBA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4"/>
            <a:ext cx="1781175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ounded Rectangle 9"/>
          <p:cNvSpPr/>
          <p:nvPr/>
        </p:nvSpPr>
        <p:spPr>
          <a:xfrm>
            <a:off x="841248" y="1645920"/>
            <a:ext cx="5120640" cy="2240280"/>
          </a:xfrm>
          <a:prstGeom prst="roundRect">
            <a:avLst>
              <a:gd name="adj" fmla="val 5000"/>
            </a:avLst>
          </a:prstGeom>
          <a:solidFill>
            <a:srgbClr val="E8F1EB"/>
          </a:solidFill>
          <a:ln w="19050">
            <a:solidFill>
              <a:srgbClr val="1B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B5E3A"/>
                </a:solidFill>
              </a:rPr>
              <a:t>TrustGap CAN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Read a copy of incoming emails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Save small summaries (domain, time, risk), not full emails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Show alerts on its own dashboard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Be switched off by the admin at any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120640" cy="2240280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62828"/>
                </a:solidFill>
              </a:rPr>
              <a:t>TrustGap CANNOT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Edit, delete or send any email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Move or hide emails in the inbox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Read anything outside the permission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02336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1B5E3A"/>
                </a:solidFill>
              </a:rPr>
              <a:t>Four safety layers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389120"/>
            <a:ext cx="2423160" cy="731520"/>
          </a:xfrm>
          <a:prstGeom prst="roundRect">
            <a:avLst/>
          </a:prstGeom>
          <a:solidFill>
            <a:srgbClr val="E8F1EB"/>
          </a:solidFill>
          <a:ln w="19050">
            <a:solidFill>
              <a:srgbClr val="1B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1 Read-only permission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4389120"/>
            <a:ext cx="2423160" cy="731520"/>
          </a:xfrm>
          <a:prstGeom prst="roundRect">
            <a:avLst/>
          </a:prstGeom>
          <a:solidFill>
            <a:srgbClr val="E8F1EB"/>
          </a:solidFill>
          <a:ln w="19050">
            <a:solidFill>
              <a:srgbClr val="1B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2 Store less: summaries, not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4389120"/>
            <a:ext cx="2423160" cy="731520"/>
          </a:xfrm>
          <a:prstGeom prst="roundRect">
            <a:avLst/>
          </a:prstGeom>
          <a:solidFill>
            <a:srgbClr val="E8F1EB"/>
          </a:solidFill>
          <a:ln w="19050">
            <a:solidFill>
              <a:srgbClr val="1B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3 Local processing: no outside AI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8824" y="4389120"/>
            <a:ext cx="2423160" cy="731520"/>
          </a:xfrm>
          <a:prstGeom prst="roundRect">
            <a:avLst/>
          </a:prstGeom>
          <a:solidFill>
            <a:srgbClr val="E8F1EB"/>
          </a:solidFill>
          <a:ln w="19050">
            <a:solidFill>
              <a:srgbClr val="1B5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4 Open code; admin can revoke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257800"/>
            <a:ext cx="105156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222222"/>
                </a:solidFill>
              </a:rPr>
              <a:t>Words alone do not prove safety. The proof is the permission type, the small data we keep, local processing, open code and the user’s power to revoke, all together.</a:t>
            </a:r>
          </a:p>
        </p:txBody>
      </p:sp>
    </p:spTree>
    <p:extLst>
      <p:ext uri="{BB962C8B-B14F-4D97-AF65-F5344CB8AC3E}">
        <p14:creationId xmlns:p14="http://schemas.microsoft.com/office/powerpoint/2010/main" val="1431235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21D0-4650-9449-9D0F-A7358F855562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44755" y="2605507"/>
            <a:ext cx="23024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latin typeface="+mj-lt"/>
              </a:rPr>
              <a:t>Thank You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8381C38D-F509-D180-A71D-F70F6CAC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8" name="Picture 7" descr="Namal University">
            <a:extLst>
              <a:ext uri="{FF2B5EF4-FFF2-40B4-BE49-F238E27FC236}">
                <a16:creationId xmlns:a16="http://schemas.microsoft.com/office/drawing/2014/main" id="{33ED4116-6C5A-60CE-55B7-C02778E2AF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528" y="11754"/>
            <a:ext cx="1781175" cy="1781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4307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1419</Words>
  <Application>Microsoft Office PowerPoint</Application>
  <PresentationFormat>Widescreen</PresentationFormat>
  <Paragraphs>182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TrustGap: Detecting Authentication Passing Business Email Compromise via Contact Baseline and Lookalike Domain Analysis </vt:lpstr>
      <vt:lpstr>Outline</vt:lpstr>
      <vt:lpstr>SPF, DKIM and DMARC Explained</vt:lpstr>
      <vt:lpstr>Revised Problem Statement</vt:lpstr>
      <vt:lpstr>Solution</vt:lpstr>
      <vt:lpstr>Q1: Where the Detection Layer Sits</vt:lpstr>
      <vt:lpstr>Q1 Example: One Email, Six Checks</vt:lpstr>
      <vt:lpstr>Q2: Deploying and Testing</vt:lpstr>
      <vt:lpstr>Q2: Where It Runs and What It Costs</vt:lpstr>
      <vt:lpstr>Q3: Our Read-Only Promise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[Project Title]</dc:title>
  <dc:creator>Muhammad Shahzad Arif</dc:creator>
  <cp:lastModifiedBy>Sumaira Majeed</cp:lastModifiedBy>
  <cp:revision>54</cp:revision>
  <dcterms:created xsi:type="dcterms:W3CDTF">2016-07-14T13:09:07Z</dcterms:created>
  <dcterms:modified xsi:type="dcterms:W3CDTF">2026-10-07T09:06:20Z</dcterms:modified>
</cp:coreProperties>
</file>